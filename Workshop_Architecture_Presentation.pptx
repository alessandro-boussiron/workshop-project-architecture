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🚀 Workshop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Web &amp; Embedded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Au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800"/>
            </a:pPr>
            <a:r>
              <a:t>🌐 Architecture Web</a:t>
            </a:r>
          </a:p>
          <a:p>
            <a:pPr>
              <a:spcAft>
                <a:spcPts val="1200"/>
              </a:spcAft>
              <a:defRPr sz="2800"/>
            </a:pPr>
          </a:p>
          <a:p>
            <a:pPr>
              <a:spcAft>
                <a:spcPts val="1200"/>
              </a:spcAft>
              <a:defRPr sz="2800"/>
            </a:pPr>
            <a:r>
              <a:t>🔧 Architecture C/Embedded</a:t>
            </a:r>
          </a:p>
          <a:p>
            <a:pPr>
              <a:spcAft>
                <a:spcPts val="1200"/>
              </a:spcAft>
              <a:defRPr sz="2800"/>
            </a:pPr>
          </a:p>
          <a:p>
            <a:pPr>
              <a:spcAft>
                <a:spcPts val="1200"/>
              </a:spcAft>
              <a:defRPr sz="2800"/>
            </a:pPr>
            <a:r>
              <a:t>💡 Bonnes Pratiques</a:t>
            </a:r>
          </a:p>
          <a:p>
            <a:pPr>
              <a:spcAft>
                <a:spcPts val="1200"/>
              </a:spcAft>
              <a:defRPr sz="2800"/>
            </a:pPr>
          </a:p>
          <a:p>
            <a:pPr>
              <a:spcAft>
                <a:spcPts val="1200"/>
              </a:spcAft>
              <a:defRPr sz="2800"/>
            </a:pPr>
            <a:r>
              <a:t>⚡ Patterns Avancés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🌐 Clean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Architecture en Couches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645920"/>
            <a:ext cx="4572000" cy="100584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PRESENTATION</a:t>
            </a:r>
          </a:p>
          <a:p>
            <a:r>
              <a:t>HTTP • GraphQL • CLI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2651760"/>
            <a:ext cx="0" cy="182880"/>
          </a:xfrm>
          <a:prstGeom prst="bentConnector3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2834640"/>
            <a:ext cx="4572000" cy="100584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APPLICATION</a:t>
            </a:r>
          </a:p>
          <a:p>
            <a:r>
              <a:t>Use Cases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3840480"/>
            <a:ext cx="0" cy="182880"/>
          </a:xfrm>
          <a:prstGeom prst="bentConnector3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0" y="4023360"/>
            <a:ext cx="4572000" cy="100584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DOMAIN</a:t>
            </a:r>
          </a:p>
          <a:p>
            <a:r>
              <a:t>Business Logic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5029200"/>
            <a:ext cx="0" cy="182880"/>
          </a:xfrm>
          <a:prstGeom prst="bentConnector3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0" y="5212080"/>
            <a:ext cx="4572000" cy="100584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INFRASTRUCTURE</a:t>
            </a:r>
          </a:p>
          <a:p>
            <a:r>
              <a:t>DB • Email •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646464"/>
                </a:solidFill>
              </a:defRPr>
            </a:pPr>
            <a:r>
              <a:t>⬇️ Dépendances pointent vers l'intérieur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Principes SOLID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645920" cy="18288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</a:t>
            </a:r>
          </a:p>
          <a:p/>
          <a:p>
            <a:r>
              <a:t>Single</a:t>
            </a:r>
          </a:p>
          <a:p>
            <a:r>
              <a:t>Responsibility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828800"/>
            <a:ext cx="1645920" cy="18288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</a:t>
            </a:r>
          </a:p>
          <a:p/>
          <a:p>
            <a:r>
              <a:t>Open/</a:t>
            </a:r>
          </a:p>
          <a:p>
            <a:r>
              <a:t>Closed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1645920" cy="182880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</a:t>
            </a:r>
          </a:p>
          <a:p/>
          <a:p>
            <a:r>
              <a:t>Liskov</a:t>
            </a:r>
          </a:p>
          <a:p>
            <a:r>
              <a:t>Substitution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1645920" cy="18288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</a:t>
            </a:r>
          </a:p>
          <a:p/>
          <a:p>
            <a:r>
              <a:t>Interface</a:t>
            </a:r>
          </a:p>
          <a:p>
            <a:r>
              <a:t>Segregation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114800"/>
            <a:ext cx="4572000" cy="18288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</a:t>
            </a:r>
          </a:p>
          <a:p/>
          <a:p>
            <a:r>
              <a:t>Dependency</a:t>
            </a:r>
          </a:p>
          <a:p>
            <a:r>
              <a:t>Inversion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❌ Avant vs ✅ Après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4114800" cy="4114800"/>
          </a:xfrm>
          <a:prstGeom prst="roundRect">
            <a:avLst/>
          </a:prstGeom>
          <a:solidFill>
            <a:srgbClr val="C0392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❌ AVANT</a:t>
            </a:r>
          </a:p>
          <a:p/>
          <a:p>
            <a:r>
              <a:t>• Tout mélangé</a:t>
            </a:r>
          </a:p>
          <a:p>
            <a:r>
              <a:t>• Controller + DB</a:t>
            </a:r>
          </a:p>
          <a:p>
            <a:r>
              <a:t>• Impossible tester</a:t>
            </a:r>
          </a:p>
          <a:p>
            <a:r>
              <a:t>• Couplage fort</a:t>
            </a:r>
          </a:p>
          <a:p>
            <a:r>
              <a:t>• Code spaghetti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828800"/>
            <a:ext cx="4114800" cy="411480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 APRÈS</a:t>
            </a:r>
          </a:p>
          <a:p/>
          <a:p>
            <a:r>
              <a:t>• Séparation claire</a:t>
            </a:r>
          </a:p>
          <a:p>
            <a:r>
              <a:t>• Use Cases isolés</a:t>
            </a:r>
          </a:p>
          <a:p>
            <a:r>
              <a:t>• Testable facilement</a:t>
            </a:r>
          </a:p>
          <a:p>
            <a:r>
              <a:t>• Découplé</a:t>
            </a:r>
          </a:p>
          <a:p>
            <a:r>
              <a:t>• Clean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📦 Domain-Driven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📦 DDD Building Blocks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1828800" cy="13716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</a:t>
            </a:r>
          </a:p>
          <a:p>
            <a:r>
              <a:t>Entity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286000"/>
            <a:ext cx="1828800" cy="13716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💎</a:t>
            </a:r>
          </a:p>
          <a:p>
            <a:r>
              <a:t>Value</a:t>
            </a:r>
          </a:p>
          <a:p>
            <a:r>
              <a:t>Object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1828800" cy="137160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📦</a:t>
            </a:r>
          </a:p>
          <a:p>
            <a:r>
              <a:t>Aggregate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286000"/>
            <a:ext cx="1828800" cy="13716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</a:t>
            </a:r>
          </a:p>
          <a:p>
            <a:r>
              <a:t>Domain</a:t>
            </a:r>
          </a:p>
          <a:p>
            <a:r>
              <a:t>Event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4572000"/>
            <a:ext cx="1828800" cy="137160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🔧</a:t>
            </a:r>
          </a:p>
          <a:p>
            <a:r>
              <a:t>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572000"/>
            <a:ext cx="1828800" cy="13716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🏭</a:t>
            </a:r>
          </a:p>
          <a:p>
            <a:r>
              <a:t>Factory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4572000"/>
            <a:ext cx="1828800" cy="1371600"/>
          </a:xfrm>
          <a:prstGeom prst="roundRect">
            <a:avLst/>
          </a:prstGeom>
          <a:solidFill>
            <a:srgbClr val="34495E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📚</a:t>
            </a:r>
          </a:p>
          <a:p>
            <a:r>
              <a:t>Repository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🗣️ Ubiquitous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Code = Langage Métier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⚡ CQRS + Event Sourcing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⚡ CQRS Pattern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82880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📝 WRITE</a:t>
            </a:r>
          </a:p>
          <a:p>
            <a:r>
              <a:t>Commands</a:t>
            </a:r>
          </a:p>
          <a:p/>
          <a:p>
            <a:r>
              <a:t>Create</a:t>
            </a:r>
          </a:p>
          <a:p>
            <a:r>
              <a:t>Update</a:t>
            </a:r>
          </a:p>
          <a:p>
            <a:r>
              <a:t>Delete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828800"/>
            <a:ext cx="3657600" cy="18288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📖 READ</a:t>
            </a:r>
          </a:p>
          <a:p>
            <a:r>
              <a:t>Queries</a:t>
            </a:r>
          </a:p>
          <a:p/>
          <a:p>
            <a:r>
              <a:t>Get</a:t>
            </a:r>
          </a:p>
          <a:p>
            <a:r>
              <a:t>Search</a:t>
            </a:r>
          </a:p>
          <a:p>
            <a:r>
              <a:t>Filter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572000"/>
            <a:ext cx="4572000" cy="1097280"/>
          </a:xfrm>
          <a:prstGeom prst="roundRect">
            <a:avLst/>
          </a:prstGeom>
          <a:solidFill>
            <a:srgbClr val="95A5A6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💾 Event Store / Database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743200"/>
            <a:ext cx="1828800" cy="1828800"/>
          </a:xfrm>
          <a:prstGeom prst="bentConnector3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5029200" y="3657600"/>
            <a:ext cx="1828800" cy="1371600"/>
          </a:xfrm>
          <a:prstGeom prst="bentConnector3">
            <a:avLst/>
          </a:prstGeom>
          <a:ln w="38100">
            <a:solidFill>
              <a:srgbClr val="3232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Event Sourcing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6400800" cy="109728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Stocker l'HISTORIQUE pas l'ÉTAT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5486400" cy="27432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AccountCreated</a:t>
            </a:r>
          </a:p>
          <a:p>
            <a:r>
              <a:t>⬇️</a:t>
            </a:r>
          </a:p>
          <a:p>
            <a:r>
              <a:t>MoneyDeposited +100€</a:t>
            </a:r>
          </a:p>
          <a:p>
            <a:r>
              <a:t>⬇️</a:t>
            </a:r>
          </a:p>
          <a:p>
            <a:r>
              <a:t>MoneyWithdrawn -50€</a:t>
            </a:r>
          </a:p>
          <a:p>
            <a:r>
              <a:t>⬇️</a:t>
            </a:r>
          </a:p>
          <a:p>
            <a:r>
              <a:t>Balance = 50€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🔧 Architecture C/Embedded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NASA Power of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286000" cy="18288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Règle 1-2</a:t>
            </a:r>
          </a:p>
          <a:p/>
          <a:p>
            <a:r>
              <a:t>Simple</a:t>
            </a:r>
          </a:p>
          <a:p>
            <a:r>
              <a:t>Control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2286000" cy="182880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Règle 3</a:t>
            </a:r>
          </a:p>
          <a:p/>
          <a:p>
            <a:r>
              <a:t>No Dynamic</a:t>
            </a:r>
          </a:p>
          <a:p>
            <a:r>
              <a:t>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828800"/>
            <a:ext cx="2286000" cy="18288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Règle 4</a:t>
            </a:r>
          </a:p>
          <a:p/>
          <a:p>
            <a:r>
              <a:t>Small</a:t>
            </a:r>
          </a:p>
          <a:p>
            <a:r>
              <a:t>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2286000" cy="182880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Règle 5-6</a:t>
            </a:r>
          </a:p>
          <a:p/>
          <a:p>
            <a:r>
              <a:t>Check All</a:t>
            </a:r>
          </a:p>
          <a:p>
            <a:r>
              <a:t>Returns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114800"/>
            <a:ext cx="2286000" cy="182880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Règle 7-8</a:t>
            </a:r>
          </a:p>
          <a:p/>
          <a:p>
            <a:r>
              <a:t>Assertions +</a:t>
            </a:r>
          </a:p>
          <a:p>
            <a:r>
              <a:t>Pointers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4114800"/>
            <a:ext cx="2286000" cy="1828800"/>
          </a:xfrm>
          <a:prstGeom prst="roundRect">
            <a:avLst/>
          </a:prstGeom>
          <a:solidFill>
            <a:srgbClr val="9B59B6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Règle 9-10</a:t>
            </a:r>
          </a:p>
          <a:p/>
          <a:p>
            <a:r>
              <a:t>Zero Warnings</a:t>
            </a:r>
          </a:p>
          <a:p>
            <a:r>
              <a:t>+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Pourquoi NASA Rules?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</a:defRPr>
            </a:pPr>
            <a:r>
              <a:t>Zéro Tolérance aux Bugs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Performance Prévisible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🛡️ Memory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🛡️ Hiérarchie Mémoire (SANS malloc!)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5486400" cy="109728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⭐⭐⭐⭐⭐</a:t>
            </a:r>
          </a:p>
          <a:p>
            <a:r>
              <a:t>STATIC</a:t>
            </a:r>
          </a:p>
          <a:p>
            <a:r>
              <a:t>Zéro fuite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5486400" cy="109728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⭐⭐⭐⭐</a:t>
            </a:r>
          </a:p>
          <a:p>
            <a:r>
              <a:t>OBJECT POOL</a:t>
            </a:r>
          </a:p>
          <a:p>
            <a:r>
              <a:t>Réutilisation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206240"/>
            <a:ext cx="5486400" cy="109728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⭐⭐⭐</a:t>
            </a:r>
          </a:p>
          <a:p>
            <a:r>
              <a:t>ARENA</a:t>
            </a:r>
          </a:p>
          <a:p>
            <a:r>
              <a:t>Simple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486400"/>
            <a:ext cx="5486400" cy="109728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⭐⭐</a:t>
            </a:r>
          </a:p>
          <a:p>
            <a:r>
              <a:t>MALLOC</a:t>
            </a:r>
          </a:p>
          <a:p>
            <a:r>
              <a:t>Dernier recours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⭐ Allocation Statique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STATIQUE &gt; DYNAMIQUE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int data[1000];</a:t>
            </a:r>
          </a:p>
          <a:p/>
          <a:p>
            <a:r>
              <a:t>Pas de malloc() !</a:t>
            </a:r>
          </a:p>
          <a:p>
            <a:r>
              <a:t>Pas de free() !</a:t>
            </a:r>
          </a:p>
          <a:p>
            <a:r>
              <a:t>Zéro fuite 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Architecture en Couches 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828800"/>
            <a:ext cx="4572000" cy="9144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926080"/>
            <a:ext cx="4572000" cy="91440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023360"/>
            <a:ext cx="4572000" cy="91440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120640"/>
            <a:ext cx="4572000" cy="91440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HAL (Hardware)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💪 Exercices Pratiques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3657600" cy="365760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🌐 WEB</a:t>
            </a:r>
          </a:p>
          <a:p/>
          <a:p>
            <a:r>
              <a:t>6 exercices</a:t>
            </a:r>
          </a:p>
          <a:p>
            <a:r>
              <a:t>Clean Arch</a:t>
            </a:r>
          </a:p>
          <a:p/>
          <a:p>
            <a:r>
              <a:t>DDD patterns</a:t>
            </a:r>
          </a:p>
          <a:p/>
          <a:p>
            <a:r>
              <a:t>CQRS projections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2286000"/>
            <a:ext cx="3657600" cy="365760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🔧 C</a:t>
            </a:r>
          </a:p>
          <a:p/>
          <a:p>
            <a:r>
              <a:t>NASA Rules</a:t>
            </a:r>
          </a:p>
          <a:p/>
          <a:p>
            <a:r>
              <a:t>Arena allocator</a:t>
            </a:r>
          </a:p>
          <a:p/>
          <a:p>
            <a:r>
              <a:t>Drivers HAL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🤔 Quand Utiliser?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560320" cy="164592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Clean Arch</a:t>
            </a:r>
          </a:p>
          <a:p/>
          <a:p>
            <a:r>
              <a:t>App complexe</a:t>
            </a:r>
          </a:p>
          <a:p>
            <a:r>
              <a:t>+6 mois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286000"/>
            <a:ext cx="2560320" cy="164592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DDD</a:t>
            </a:r>
          </a:p>
          <a:p/>
          <a:p>
            <a:r>
              <a:t>Métier riche</a:t>
            </a:r>
          </a:p>
          <a:p>
            <a:r>
              <a:t>Règles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2286000"/>
            <a:ext cx="2560320" cy="1645920"/>
          </a:xfrm>
          <a:prstGeom prst="roundRect">
            <a:avLst/>
          </a:prstGeom>
          <a:solidFill>
            <a:srgbClr val="F1C40F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CQRS</a:t>
            </a:r>
          </a:p>
          <a:p/>
          <a:p>
            <a:r>
              <a:t>Audit</a:t>
            </a:r>
          </a:p>
          <a:p>
            <a:r>
              <a:t>Multi-vues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2560320" cy="164592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NASA</a:t>
            </a:r>
          </a:p>
          <a:p/>
          <a:p>
            <a:r>
              <a:t>Critique</a:t>
            </a:r>
          </a:p>
          <a:p>
            <a:r>
              <a:t>Zéro bug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572000"/>
            <a:ext cx="2560320" cy="164592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Memory Safe</a:t>
            </a:r>
          </a:p>
          <a:p/>
          <a:p>
            <a:r>
              <a:t>Embedded</a:t>
            </a:r>
          </a:p>
          <a:p>
            <a:r>
              <a:t>Temps réel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572000"/>
            <a:ext cx="2560320" cy="1645920"/>
          </a:xfrm>
          <a:prstGeom prst="roundRect">
            <a:avLst/>
          </a:prstGeom>
          <a:solidFill>
            <a:srgbClr val="95A5A6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⚠️</a:t>
            </a:r>
          </a:p>
          <a:p/>
          <a:p>
            <a:r>
              <a:t>Simple?</a:t>
            </a:r>
          </a:p>
          <a:p>
            <a:r>
              <a:t>Pas de over-engineering!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Anti-Patterns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/>
            </a:pPr>
            <a:r>
              <a:t>❌ God Class</a:t>
            </a:r>
          </a:p>
          <a:p>
            <a:pPr>
              <a:spcAft>
                <a:spcPts val="1200"/>
              </a:spcAft>
              <a:defRPr sz="2400"/>
            </a:pPr>
            <a:r>
              <a:t>❌ Anemic Domain</a:t>
            </a:r>
          </a:p>
          <a:p>
            <a:pPr>
              <a:spcAft>
                <a:spcPts val="1200"/>
              </a:spcAft>
              <a:defRPr sz="2400"/>
            </a:pPr>
            <a:r>
              <a:t>❌ Big Ball of Mud</a:t>
            </a:r>
          </a:p>
          <a:p>
            <a:pPr>
              <a:spcAft>
                <a:spcPts val="1200"/>
              </a:spcAft>
              <a:defRPr sz="2400"/>
            </a:pPr>
            <a:r>
              <a:t>❌ Magic Numbers</a:t>
            </a:r>
          </a:p>
          <a:p>
            <a:pPr>
              <a:spcAft>
                <a:spcPts val="1200"/>
              </a:spcAft>
              <a:defRPr sz="2400"/>
            </a:pPr>
            <a:r>
              <a:t>❌ Ignorer les erreurs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Ressources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315200" cy="1097280"/>
          </a:xfrm>
          <a:prstGeom prst="roundRect">
            <a:avLst/>
          </a:prstGeom>
          <a:solidFill>
            <a:srgbClr val="3498DB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📖 Clean Architecture - Robert C. Martin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7315200" cy="1097280"/>
          </a:xfrm>
          <a:prstGeom prst="roundRect">
            <a:avLst/>
          </a:prstGeom>
          <a:solidFill>
            <a:srgbClr val="2ECC71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📖 Domain-Driven Design - Eric Evans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7315200" cy="1097280"/>
          </a:xfrm>
          <a:prstGeom prst="roundRect">
            <a:avLst/>
          </a:prstGeom>
          <a:solidFill>
            <a:srgbClr val="E74C3C"/>
          </a:solidFill>
          <a:ln w="25400">
            <a:solidFill>
              <a:srgbClr val="3232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🚀 NASA JPL Coding Standards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✨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Architecture = Fondation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CC71"/>
                </a:solidFill>
              </a:defRPr>
            </a:pPr>
            <a:r>
              <a:t>Practice Makes Perfect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Questions? 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/>
            </a:pPr>
            <a:r>
              <a:t>Merci 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